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iMak Trading Japan - eBay Listing System 全体構成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808080"/>
                </a:solidFill>
              </a:defRPr>
            </a:pPr>
            <a:r>
              <a:t>目標: 月¥30万売上 / fb100 / 出品2000件 (現状: ¥1.5-5万 / fb50 / 842件)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4630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4E79"/>
                </a:solidFill>
              </a:defRPr>
            </a:pPr>
            <a:r>
              <a:t>① データソース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828800"/>
            <a:ext cx="1554480" cy="365760"/>
          </a:xfrm>
          <a:prstGeom prst="roundRect">
            <a:avLst/>
          </a:prstGeom>
          <a:solidFill>
            <a:srgbClr val="DEEBF7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00" b="0">
                <a:solidFill>
                  <a:srgbClr val="000000"/>
                </a:solidFill>
              </a:defRPr>
            </a:pPr>
            <a:r>
              <a:t>Mercari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2240280"/>
            <a:ext cx="1554480" cy="365760"/>
          </a:xfrm>
          <a:prstGeom prst="roundRect">
            <a:avLst/>
          </a:prstGeom>
          <a:solidFill>
            <a:srgbClr val="DEEBF7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00" b="0">
                <a:solidFill>
                  <a:srgbClr val="000000"/>
                </a:solidFill>
              </a:defRPr>
            </a:pPr>
            <a:r>
              <a:t>Mercari Shops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2651760"/>
            <a:ext cx="1554480" cy="365760"/>
          </a:xfrm>
          <a:prstGeom prst="roundRect">
            <a:avLst/>
          </a:prstGeom>
          <a:solidFill>
            <a:srgbClr val="DEEBF7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00" b="0">
                <a:solidFill>
                  <a:srgbClr val="000000"/>
                </a:solidFill>
              </a:defRPr>
            </a:pPr>
            <a:r>
              <a:t>Rakuma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3063240"/>
            <a:ext cx="1554480" cy="365760"/>
          </a:xfrm>
          <a:prstGeom prst="roundRect">
            <a:avLst/>
          </a:prstGeom>
          <a:solidFill>
            <a:srgbClr val="DEEBF7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00" b="0">
                <a:solidFill>
                  <a:srgbClr val="000000"/>
                </a:solidFill>
              </a:defRPr>
            </a:pPr>
            <a:r>
              <a:t>Amazon.co.jp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3474720"/>
            <a:ext cx="1554480" cy="365760"/>
          </a:xfrm>
          <a:prstGeom prst="roundRect">
            <a:avLst/>
          </a:prstGeom>
          <a:solidFill>
            <a:srgbClr val="DEEBF7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00" b="0">
                <a:solidFill>
                  <a:srgbClr val="000000"/>
                </a:solidFill>
              </a:defRPr>
            </a:pPr>
            <a:r>
              <a:t>楽天市場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3886200"/>
            <a:ext cx="1554480" cy="365760"/>
          </a:xfrm>
          <a:prstGeom prst="roundRect">
            <a:avLst/>
          </a:prstGeom>
          <a:solidFill>
            <a:srgbClr val="DEEBF7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00" b="0">
                <a:solidFill>
                  <a:srgbClr val="000000"/>
                </a:solidFill>
              </a:defRPr>
            </a:pPr>
            <a:r>
              <a:t>Yahoo!Shopping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4297680"/>
            <a:ext cx="1554480" cy="365760"/>
          </a:xfrm>
          <a:prstGeom prst="roundRect">
            <a:avLst/>
          </a:prstGeom>
          <a:solidFill>
            <a:srgbClr val="DEEBF7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00" b="0">
                <a:solidFill>
                  <a:srgbClr val="000000"/>
                </a:solidFill>
              </a:defRPr>
            </a:pPr>
            <a:r>
              <a:t>UNIQLO公式API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709160"/>
            <a:ext cx="1554480" cy="365760"/>
          </a:xfrm>
          <a:prstGeom prst="roundRect">
            <a:avLst/>
          </a:prstGeom>
          <a:solidFill>
            <a:srgbClr val="DEEBF7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00" b="0">
                <a:solidFill>
                  <a:srgbClr val="000000"/>
                </a:solidFill>
              </a:defRPr>
            </a:pPr>
            <a:r>
              <a:t>CASIO公式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5120640"/>
            <a:ext cx="1554480" cy="365760"/>
          </a:xfrm>
          <a:prstGeom prst="roundRect">
            <a:avLst/>
          </a:prstGeom>
          <a:solidFill>
            <a:srgbClr val="DEEBF7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00" b="0">
                <a:solidFill>
                  <a:srgbClr val="000000"/>
                </a:solidFill>
              </a:defRPr>
            </a:pPr>
            <a:r>
              <a:t>PSA cert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14630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4E79"/>
                </a:solidFill>
              </a:defRPr>
            </a:pPr>
            <a:r>
              <a:t>② スカウト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03120" y="1828800"/>
            <a:ext cx="1737360" cy="502920"/>
          </a:xfrm>
          <a:prstGeom prst="roundRect">
            <a:avLst/>
          </a:prstGeom>
          <a:solidFill>
            <a:srgbClr val="DEEBF7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00" b="0">
                <a:solidFill>
                  <a:srgbClr val="000000"/>
                </a:solidFill>
              </a:defRPr>
            </a:pPr>
            <a:r>
              <a:t>mercari_scout.py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03120" y="2377440"/>
            <a:ext cx="1737360" cy="502920"/>
          </a:xfrm>
          <a:prstGeom prst="roundRect">
            <a:avLst/>
          </a:prstGeom>
          <a:solidFill>
            <a:srgbClr val="DEEBF7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00" b="0">
                <a:solidFill>
                  <a:srgbClr val="000000"/>
                </a:solidFill>
              </a:defRPr>
            </a:pPr>
            <a:r>
              <a:t>montbell_outlet_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scraper.py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03120" y="3108960"/>
            <a:ext cx="1737360" cy="502920"/>
          </a:xfrm>
          <a:prstGeom prst="roundRect">
            <a:avLst/>
          </a:prstGeom>
          <a:solidFill>
            <a:srgbClr val="DEEBF7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00" b="0">
                <a:solidFill>
                  <a:srgbClr val="000000"/>
                </a:solidFill>
              </a:defRPr>
            </a:pPr>
            <a:r>
              <a:t>手動URL貼付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(Amazon/楽天等)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14630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4E79"/>
                </a:solidFill>
              </a:defRPr>
            </a:pPr>
            <a:r>
              <a:t>③ Google Sheets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23360" y="1828800"/>
            <a:ext cx="2286000" cy="548640"/>
          </a:xfrm>
          <a:prstGeom prst="roundRect">
            <a:avLst/>
          </a:prstGeom>
          <a:solidFill>
            <a:srgbClr val="E2EFDA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00" b="0">
                <a:solidFill>
                  <a:srgbClr val="000000"/>
                </a:solidFill>
              </a:defRPr>
            </a:pPr>
            <a:r>
              <a:t>統合High_商品管理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(Tshirt/Porter/Kuji/Mont)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23360" y="2468880"/>
            <a:ext cx="2286000" cy="548640"/>
          </a:xfrm>
          <a:prstGeom prst="roundRect">
            <a:avLst/>
          </a:prstGeom>
          <a:solidFill>
            <a:srgbClr val="E2EFDA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00" b="0">
                <a:solidFill>
                  <a:srgbClr val="000000"/>
                </a:solidFill>
              </a:defRPr>
            </a:pPr>
            <a:r>
              <a:t>統合Low_商品管理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(Reel/Tomica)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23360" y="3108960"/>
            <a:ext cx="2286000" cy="548640"/>
          </a:xfrm>
          <a:prstGeom prst="roundRect">
            <a:avLst/>
          </a:prstGeom>
          <a:solidFill>
            <a:srgbClr val="E2EFDA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00" b="0">
                <a:solidFill>
                  <a:srgbClr val="000000"/>
                </a:solidFill>
              </a:defRPr>
            </a:pPr>
            <a:r>
              <a:t>利益計算シートv2_GS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(FVF/送料/為替)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023360" y="3749039"/>
            <a:ext cx="2286000" cy="548640"/>
          </a:xfrm>
          <a:prstGeom prst="roundRect">
            <a:avLst/>
          </a:prstGeom>
          <a:solidFill>
            <a:srgbClr val="E2EFDA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00" b="0">
                <a:solidFill>
                  <a:srgbClr val="000000"/>
                </a:solidFill>
              </a:defRPr>
            </a:pPr>
            <a:r>
              <a:t>処理共通化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マトリクス.xlsx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14630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4E79"/>
                </a:solidFill>
              </a:defRPr>
            </a:pPr>
            <a:r>
              <a:t>④ リスティング生成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92240" y="1828800"/>
            <a:ext cx="2468880" cy="411480"/>
          </a:xfrm>
          <a:prstGeom prst="roundRect">
            <a:avLst/>
          </a:prstGeom>
          <a:solidFill>
            <a:srgbClr val="E2EFDA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00" b="0">
                <a:solidFill>
                  <a:srgbClr val="000000"/>
                </a:solidFill>
              </a:defRPr>
            </a:pPr>
            <a:r>
              <a:t>tshirt_listing.py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92240" y="2286000"/>
            <a:ext cx="2468880" cy="411480"/>
          </a:xfrm>
          <a:prstGeom prst="roundRect">
            <a:avLst/>
          </a:prstGeom>
          <a:solidFill>
            <a:srgbClr val="E2EFDA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00" b="0">
                <a:solidFill>
                  <a:srgbClr val="000000"/>
                </a:solidFill>
              </a:defRPr>
            </a:pPr>
            <a:r>
              <a:t>mercari_to_ebay_csv.py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--sheet porter/reel/tomica/kuji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92240" y="2971800"/>
            <a:ext cx="2468880" cy="411480"/>
          </a:xfrm>
          <a:prstGeom prst="roundRect">
            <a:avLst/>
          </a:prstGeom>
          <a:solidFill>
            <a:srgbClr val="E2EFDA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00" b="0">
                <a:solidFill>
                  <a:srgbClr val="000000"/>
                </a:solidFill>
              </a:defRPr>
            </a:pPr>
            <a:r>
              <a:t>montbell_listing.py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92240" y="3383280"/>
            <a:ext cx="2468880" cy="411480"/>
          </a:xfrm>
          <a:prstGeom prst="roundRect">
            <a:avLst/>
          </a:prstGeom>
          <a:solidFill>
            <a:srgbClr val="E2EFDA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00" b="0">
                <a:solidFill>
                  <a:srgbClr val="000000"/>
                </a:solidFill>
              </a:defRPr>
            </a:pPr>
            <a:r>
              <a:t>ichibankuji_to_csv.py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92240" y="3794760"/>
            <a:ext cx="2468880" cy="411480"/>
          </a:xfrm>
          <a:prstGeom prst="roundRect">
            <a:avLst/>
          </a:prstGeom>
          <a:solidFill>
            <a:srgbClr val="E2EFDA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00" b="0">
                <a:solidFill>
                  <a:srgbClr val="000000"/>
                </a:solidFill>
              </a:defRPr>
            </a:pPr>
            <a:r>
              <a:t>gshock_to_csv.py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92240" y="4206240"/>
            <a:ext cx="2468880" cy="411480"/>
          </a:xfrm>
          <a:prstGeom prst="roundRect">
            <a:avLst/>
          </a:prstGeom>
          <a:solidFill>
            <a:srgbClr val="E2EFDA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00" b="0">
                <a:solidFill>
                  <a:srgbClr val="000000"/>
                </a:solidFill>
              </a:defRPr>
            </a:pPr>
            <a:r>
              <a:t>psa_to_csv.py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14630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4E79"/>
                </a:solidFill>
              </a:defRPr>
            </a:pPr>
            <a:r>
              <a:t>⑤ 検証/共通ライブラリ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98280" y="1828800"/>
            <a:ext cx="2788920" cy="548640"/>
          </a:xfrm>
          <a:prstGeom prst="roundRect">
            <a:avLst/>
          </a:prstGeom>
          <a:solidFill>
            <a:srgbClr val="DEEBF7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00" b="0">
                <a:solidFill>
                  <a:srgbClr val="000000"/>
                </a:solidFill>
              </a:defRPr>
            </a:pPr>
            <a:r>
              <a:t>whitelist_registry.py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(7カテゴリenum/range)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98280" y="2468880"/>
            <a:ext cx="2788920" cy="548640"/>
          </a:xfrm>
          <a:prstGeom prst="roundRect">
            <a:avLst/>
          </a:prstGeom>
          <a:solidFill>
            <a:srgbClr val="DEEBF7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00" b="0">
                <a:solidFill>
                  <a:srgbClr val="000000"/>
                </a:solidFill>
              </a:defRPr>
            </a:pPr>
            <a:r>
              <a:t>listing_validator.py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(構造+3AI議論)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98280" y="3108960"/>
            <a:ext cx="2788920" cy="548640"/>
          </a:xfrm>
          <a:prstGeom prst="roundRect">
            <a:avLst/>
          </a:prstGeom>
          <a:solidFill>
            <a:srgbClr val="DEEBF7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00" b="0">
                <a:solidFill>
                  <a:srgbClr val="000000"/>
                </a:solidFill>
              </a:defRPr>
            </a:pPr>
            <a:r>
              <a:t>listing_common.py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(新設・未統合) ⚠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98280" y="3749039"/>
            <a:ext cx="2788920" cy="548640"/>
          </a:xfrm>
          <a:prstGeom prst="roundRect">
            <a:avLst/>
          </a:prstGeom>
          <a:solidFill>
            <a:srgbClr val="DEEBF7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00" b="0">
                <a:solidFill>
                  <a:srgbClr val="000000"/>
                </a:solidFill>
              </a:defRPr>
            </a:pPr>
            <a:r>
              <a:t>pricing_engine.py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98280" y="4160520"/>
            <a:ext cx="2788920" cy="548640"/>
          </a:xfrm>
          <a:prstGeom prst="roundRect">
            <a:avLst/>
          </a:prstGeom>
          <a:solidFill>
            <a:srgbClr val="DEEBF7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00" b="0">
                <a:solidFill>
                  <a:srgbClr val="000000"/>
                </a:solidFill>
              </a:defRPr>
            </a:pPr>
            <a:r>
              <a:t>profit_params.py (SSOT)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" y="5577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0504D"/>
                </a:solidFill>
              </a:defRPr>
            </a:pPr>
            <a:r>
              <a:t>⑥ eBay (US)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74320" y="5897880"/>
            <a:ext cx="2743200" cy="411480"/>
          </a:xfrm>
          <a:prstGeom prst="roundRect">
            <a:avLst/>
          </a:prstGeom>
          <a:solidFill>
            <a:srgbClr val="FBE5D6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File Exchange CSV upload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200400" y="5897880"/>
            <a:ext cx="2743200" cy="411480"/>
          </a:xfrm>
          <a:prstGeom prst="roundRect">
            <a:avLst/>
          </a:prstGeom>
          <a:solidFill>
            <a:srgbClr val="FBE5D6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Trading API / Browse API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26480" y="5897880"/>
            <a:ext cx="3200400" cy="411480"/>
          </a:xfrm>
          <a:prstGeom prst="roundRect">
            <a:avLst/>
          </a:prstGeom>
          <a:solidFill>
            <a:srgbClr val="FBE5D6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出品 → バイヤー視認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509760" y="5897880"/>
            <a:ext cx="2377440" cy="411480"/>
          </a:xfrm>
          <a:prstGeom prst="roundRect">
            <a:avLst/>
          </a:prstGeom>
          <a:solidFill>
            <a:srgbClr val="E2EFDA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在庫管理: トラホバx2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1828800" y="3200400"/>
            <a:ext cx="274320" cy="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3840480" y="3200400"/>
            <a:ext cx="182880" cy="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6309360" y="3200400"/>
            <a:ext cx="182880" cy="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8961120" y="3200400"/>
            <a:ext cx="137160" cy="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772400" y="4663440"/>
            <a:ext cx="0" cy="123444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4大論点と現状ステータス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808080"/>
                </a:solidFill>
              </a:defRPr>
            </a:pPr>
            <a:r>
              <a:t>インプレッション→売上 直結のコア4要素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463040"/>
            <a:ext cx="2926080" cy="457200"/>
          </a:xfrm>
          <a:prstGeom prst="round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① 価格設定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965960"/>
            <a:ext cx="2926080" cy="4023360"/>
          </a:xfrm>
          <a:prstGeom prst="roundRect">
            <a:avLst/>
          </a:prstGeom>
          <a:solidFill>
            <a:srgbClr val="FBE5D6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コスト+利益 (✓)</a:t>
            </a:r>
          </a:p>
          <a:p>
            <a:pPr algn="ctr">
              <a:defRPr sz="1000" b="0">
                <a:solidFill>
                  <a:srgbClr val="000000"/>
                </a:solidFill>
              </a:defRPr>
            </a:pPr>
            <a:r>
              <a:t>FVF/送料 SSOT (✓)</a:t>
            </a:r>
          </a:p>
          <a:p>
            <a:pPr algn="ctr">
              <a:defRPr sz="1000" b="0">
                <a:solidFill>
                  <a:srgbClr val="000000"/>
                </a:solidFill>
              </a:defRPr>
            </a:pPr>
            <a:r>
              <a:t>為替自動取得 (✓)</a:t>
            </a:r>
          </a:p>
          <a:p>
            <a:pPr algn="ctr">
              <a:defRPr sz="1000" b="0">
                <a:solidFill>
                  <a:srgbClr val="000000"/>
                </a:solidFill>
              </a:defRPr>
            </a:pPr>
            <a:r>
              <a:t>為替ALERT (✓)</a:t>
            </a:r>
          </a:p>
          <a:p>
            <a:pPr algn="ctr">
              <a:defRPr sz="1000" b="0">
                <a:solidFill>
                  <a:srgbClr val="000000"/>
                </a:solidFill>
              </a:defRPr>
            </a:pPr>
          </a:p>
          <a:p>
            <a:pPr algn="ctr">
              <a:defRPr sz="1000" b="0">
                <a:solidFill>
                  <a:srgbClr val="000000"/>
                </a:solidFill>
              </a:defRPr>
            </a:pPr>
            <a:r>
              <a:t>❌ eBay競合median未取得</a:t>
            </a:r>
          </a:p>
          <a:p>
            <a:pPr algn="ctr">
              <a:defRPr sz="1000" b="0">
                <a:solidFill>
                  <a:srgbClr val="000000"/>
                </a:solidFill>
              </a:defRPr>
            </a:pPr>
            <a:r>
              <a:t>❌ ALERT後HOLDなし</a:t>
            </a:r>
          </a:p>
          <a:p>
            <a:pPr algn="ctr">
              <a:defRPr sz="1000" b="0">
                <a:solidFill>
                  <a:srgbClr val="000000"/>
                </a:solidFill>
              </a:defRPr>
            </a:pPr>
            <a:r>
              <a:t>❌ カテゴリ別最低価格なし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6080760"/>
            <a:ext cx="2926080" cy="365760"/>
          </a:xfrm>
          <a:prstGeom prst="roundRect">
            <a:avLst/>
          </a:prstGeom>
          <a:solidFill>
            <a:srgbClr val="E8B414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60% 完了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1463040"/>
            <a:ext cx="2926080" cy="457200"/>
          </a:xfrm>
          <a:prstGeom prst="round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② タイトル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1965960"/>
            <a:ext cx="2926080" cy="4023360"/>
          </a:xfrm>
          <a:prstGeom prst="roundRect">
            <a:avLst/>
          </a:prstGeom>
          <a:solidFill>
            <a:srgbClr val="FBE5D6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Claude API生成 (✓)</a:t>
            </a:r>
          </a:p>
          <a:p>
            <a:pPr algn="ctr">
              <a:defRPr sz="1000" b="0">
                <a:solidFill>
                  <a:srgbClr val="000000"/>
                </a:solidFill>
              </a:defRPr>
            </a:pPr>
            <a:r>
              <a:t>SYSTEM_PROMPT指示 (✓)</a:t>
            </a:r>
          </a:p>
          <a:p>
            <a:pPr algn="ctr">
              <a:defRPr sz="1000" b="0">
                <a:solidFill>
                  <a:srgbClr val="000000"/>
                </a:solidFill>
              </a:defRPr>
            </a:pPr>
            <a:r>
              <a:t>Python強制(reel) (✓)</a:t>
            </a:r>
          </a:p>
          <a:p>
            <a:pPr algn="ctr">
              <a:defRPr sz="1000" b="0">
                <a:solidFill>
                  <a:srgbClr val="000000"/>
                </a:solidFill>
              </a:defRPr>
            </a:pPr>
            <a:r>
              <a:t>Amazon variation取得(✓)</a:t>
            </a:r>
          </a:p>
          <a:p>
            <a:pPr algn="ctr">
              <a:defRPr sz="1000" b="0">
                <a:solidFill>
                  <a:srgbClr val="000000"/>
                </a:solidFill>
              </a:defRPr>
            </a:pPr>
          </a:p>
          <a:p>
            <a:pPr algn="ctr">
              <a:defRPr sz="1000" b="0">
                <a:solidFill>
                  <a:srgbClr val="000000"/>
                </a:solidFill>
              </a:defRPr>
            </a:pPr>
            <a:r>
              <a:t>⚠ Title長保証 reelのみ</a:t>
            </a:r>
          </a:p>
          <a:p>
            <a:pPr algn="ctr">
              <a:defRPr sz="1000" b="0">
                <a:solidFill>
                  <a:srgbClr val="000000"/>
                </a:solidFill>
              </a:defRPr>
            </a:pPr>
            <a:r>
              <a:t>⚠ Pre-owned/New整合 reelのみ</a:t>
            </a:r>
          </a:p>
          <a:p>
            <a:pPr algn="ctr">
              <a:defRPr sz="1000" b="0">
                <a:solidFill>
                  <a:srgbClr val="000000"/>
                </a:solidFill>
              </a:defRPr>
            </a:pPr>
            <a:r>
              <a:t>⚠ 推測suffix防止 reelのみ</a:t>
            </a:r>
          </a:p>
          <a:p>
            <a:pPr algn="ctr">
              <a:defRPr sz="1000" b="0">
                <a:solidFill>
                  <a:srgbClr val="000000"/>
                </a:solidFill>
              </a:defRPr>
            </a:pPr>
            <a:r>
              <a:t>⚠ 5スクリプト未対応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6080760"/>
            <a:ext cx="2926080" cy="365760"/>
          </a:xfrm>
          <a:prstGeom prst="roundRect">
            <a:avLst/>
          </a:prstGeom>
          <a:solidFill>
            <a:srgbClr val="E8B414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30% 完了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2926080" cy="457200"/>
          </a:xfrm>
          <a:prstGeom prst="round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③ Item Specifics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965960"/>
            <a:ext cx="2926080" cy="4023360"/>
          </a:xfrm>
          <a:prstGeom prst="roundRect">
            <a:avLst/>
          </a:prstGeom>
          <a:solidFill>
            <a:srgbClr val="E8B414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7カテゴリWhitelist (✓)</a:t>
            </a:r>
          </a:p>
          <a:p>
            <a:pPr algn="ctr">
              <a:defRPr sz="1000" b="0">
                <a:solidFill>
                  <a:srgbClr val="000000"/>
                </a:solidFill>
              </a:defRPr>
            </a:pPr>
            <a:r>
              <a:t>リトライループ (✓)</a:t>
            </a:r>
          </a:p>
          <a:p>
            <a:pPr algn="ctr">
              <a:defRPr sz="1000" b="0">
                <a:solidFill>
                  <a:srgbClr val="000000"/>
                </a:solidFill>
              </a:defRPr>
            </a:pPr>
            <a:r>
              <a:t>Plausibility range (✓ reel)</a:t>
            </a:r>
          </a:p>
          <a:p>
            <a:pPr algn="ctr">
              <a:defRPr sz="1000" b="0">
                <a:solidFill>
                  <a:srgbClr val="000000"/>
                </a:solidFill>
              </a:defRPr>
            </a:pPr>
            <a:r>
              <a:t>max_length (✓ reel)</a:t>
            </a:r>
          </a:p>
          <a:p>
            <a:pPr algn="ctr">
              <a:defRPr sz="1000" b="0">
                <a:solidFill>
                  <a:srgbClr val="000000"/>
                </a:solidFill>
              </a:defRPr>
            </a:pPr>
            <a:r>
              <a:t>Source verification (✓ reel)</a:t>
            </a:r>
          </a:p>
          <a:p>
            <a:pPr algn="ctr">
              <a:defRPr sz="1000" b="0">
                <a:solidFill>
                  <a:srgbClr val="000000"/>
                </a:solidFill>
              </a:defRPr>
            </a:pPr>
          </a:p>
          <a:p>
            <a:pPr algn="ctr">
              <a:defRPr sz="1000" b="0">
                <a:solidFill>
                  <a:srgbClr val="000000"/>
                </a:solidFill>
              </a:defRPr>
            </a:pPr>
            <a:r>
              <a:t>⚠ 必須項目HOLD reel/porterのみ</a:t>
            </a:r>
          </a:p>
          <a:p>
            <a:pPr algn="ctr">
              <a:defRPr sz="1000" b="0">
                <a:solidFill>
                  <a:srgbClr val="000000"/>
                </a:solidFill>
              </a:defRPr>
            </a:pPr>
            <a:r>
              <a:t>❌ eBay Required Fields照合無し</a:t>
            </a:r>
          </a:p>
          <a:p>
            <a:pPr algn="ctr">
              <a:defRPr sz="1000" b="0">
                <a:solidFill>
                  <a:srgbClr val="000000"/>
                </a:solidFill>
              </a:defRPr>
            </a:pPr>
            <a:r>
              <a:t>⚠ 全カテゴリ展開未完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6080760"/>
            <a:ext cx="2926080" cy="365760"/>
          </a:xfrm>
          <a:prstGeom prst="roundRect">
            <a:avLst/>
          </a:prstGeom>
          <a:solidFill>
            <a:srgbClr val="E8B414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50% 完了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89720" y="1463040"/>
            <a:ext cx="2926080" cy="457200"/>
          </a:xfrm>
          <a:prstGeom prst="round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④ チェック+学習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89720" y="1965960"/>
            <a:ext cx="2926080" cy="4023360"/>
          </a:xfrm>
          <a:prstGeom prst="roundRect">
            <a:avLst/>
          </a:prstGeom>
          <a:solidFill>
            <a:srgbClr val="FBE5D6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ホワイトリスト検証 (✓)</a:t>
            </a:r>
          </a:p>
          <a:p>
            <a:pPr algn="ctr">
              <a:defRPr sz="1000" b="0">
                <a:solidFill>
                  <a:srgbClr val="000000"/>
                </a:solidFill>
              </a:defRPr>
            </a:pPr>
            <a:r>
              <a:t>HOLDキュー (一部)</a:t>
            </a:r>
          </a:p>
          <a:p>
            <a:pPr algn="ctr">
              <a:defRPr sz="1000" b="0">
                <a:solidFill>
                  <a:srgbClr val="000000"/>
                </a:solidFill>
              </a:defRPr>
            </a:pPr>
            <a:r>
              <a:t>3AI議論(PSA限定) (✓)</a:t>
            </a:r>
          </a:p>
          <a:p>
            <a:pPr algn="ctr">
              <a:defRPr sz="1000" b="0">
                <a:solidFill>
                  <a:srgbClr val="000000"/>
                </a:solidFill>
              </a:defRPr>
            </a:pPr>
          </a:p>
          <a:p>
            <a:pPr algn="ctr">
              <a:defRPr sz="1000" b="0">
                <a:solidFill>
                  <a:srgbClr val="000000"/>
                </a:solidFill>
              </a:defRPr>
            </a:pPr>
            <a:r>
              <a:t>❌ 回帰テスト無し</a:t>
            </a:r>
          </a:p>
          <a:p>
            <a:pPr algn="ctr">
              <a:defRPr sz="1000" b="0">
                <a:solidFill>
                  <a:srgbClr val="000000"/>
                </a:solidFill>
              </a:defRPr>
            </a:pPr>
            <a:r>
              <a:t>❌ 過去指摘の自動再発防止無し</a:t>
            </a:r>
          </a:p>
          <a:p>
            <a:pPr algn="ctr">
              <a:defRPr sz="1000" b="0">
                <a:solidFill>
                  <a:srgbClr val="000000"/>
                </a:solidFill>
              </a:defRPr>
            </a:pPr>
            <a:r>
              <a:t>❌ listing後audit自動化無し</a:t>
            </a:r>
          </a:p>
          <a:p>
            <a:pPr algn="ctr">
              <a:defRPr sz="1000" b="0">
                <a:solidFill>
                  <a:srgbClr val="000000"/>
                </a:solidFill>
              </a:defRPr>
            </a:pPr>
            <a:r>
              <a:t>❌ iMakAudit活用ゼロ</a:t>
            </a:r>
          </a:p>
          <a:p>
            <a:pPr algn="ctr">
              <a:defRPr sz="1000" b="0">
                <a:solidFill>
                  <a:srgbClr val="000000"/>
                </a:solidFill>
              </a:defRPr>
            </a:pPr>
            <a:r>
              <a:t>❌ AI review→ルール反映なし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9720" y="6080760"/>
            <a:ext cx="2926080" cy="365760"/>
          </a:xfrm>
          <a:prstGeom prst="roundRect">
            <a:avLst/>
          </a:prstGeom>
          <a:solidFill>
            <a:srgbClr val="E8B414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20% 完了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検証/品質保証フロー (現状 vs 目標)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808080"/>
                </a:solidFill>
              </a:defRPr>
            </a:pPr>
            <a:r>
              <a:t>Claude出力 → Python deterministic 強制 → CSV出力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0504D"/>
                </a:solidFill>
              </a:defRPr>
            </a:pPr>
            <a:r>
              <a:t>【現状】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783080"/>
            <a:ext cx="1325880" cy="1005840"/>
          </a:xfrm>
          <a:prstGeom prst="roundRect">
            <a:avLst/>
          </a:prstGeom>
          <a:solidFill>
            <a:srgbClr val="DEEBF7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Claude API</a:t>
            </a:r>
          </a:p>
          <a:p>
            <a:pPr algn="ctr">
              <a:defRPr sz="1000" b="0">
                <a:solidFill>
                  <a:srgbClr val="000000"/>
                </a:solidFill>
              </a:defRPr>
            </a:pPr>
            <a:r>
              <a:t>生成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91640" y="1783080"/>
            <a:ext cx="1325880" cy="1005840"/>
          </a:xfrm>
          <a:prstGeom prst="roundRect">
            <a:avLst/>
          </a:prstGeom>
          <a:solidFill>
            <a:srgbClr val="DEEBF7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Whitelist</a:t>
            </a:r>
          </a:p>
          <a:p>
            <a:pPr algn="ctr">
              <a:defRPr sz="1000" b="0">
                <a:solidFill>
                  <a:srgbClr val="000000"/>
                </a:solidFill>
              </a:defRPr>
            </a:pPr>
            <a:r>
              <a:t>検証</a:t>
            </a:r>
          </a:p>
          <a:p>
            <a:pPr algn="ctr">
              <a:defRPr sz="1000" b="0">
                <a:solidFill>
                  <a:srgbClr val="000000"/>
                </a:solidFill>
              </a:defRPr>
            </a:pPr>
            <a:r>
              <a:t>+ retry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08960" y="1783080"/>
            <a:ext cx="1325880" cy="1005840"/>
          </a:xfrm>
          <a:prstGeom prst="roundRect">
            <a:avLst/>
          </a:prstGeom>
          <a:solidFill>
            <a:srgbClr val="FBE5D6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(reel限定)</a:t>
            </a:r>
          </a:p>
          <a:p>
            <a:pPr algn="ctr">
              <a:defRPr sz="1000" b="0">
                <a:solidFill>
                  <a:srgbClr val="000000"/>
                </a:solidFill>
              </a:defRPr>
            </a:pPr>
            <a:r>
              <a:t>Title整合</a:t>
            </a:r>
          </a:p>
          <a:p>
            <a:pPr algn="ctr">
              <a:defRPr sz="1000" b="0">
                <a:solidFill>
                  <a:srgbClr val="000000"/>
                </a:solidFill>
              </a:defRPr>
            </a:pPr>
            <a:r>
              <a:t>強制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783080"/>
            <a:ext cx="1325880" cy="1005840"/>
          </a:xfrm>
          <a:prstGeom prst="roundRect">
            <a:avLst/>
          </a:prstGeom>
          <a:solidFill>
            <a:srgbClr val="FBE5D6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(reel限定)</a:t>
            </a:r>
          </a:p>
          <a:p>
            <a:pPr algn="ctr">
              <a:defRPr sz="1000" b="0">
                <a:solidFill>
                  <a:srgbClr val="000000"/>
                </a:solidFill>
              </a:defRPr>
            </a:pPr>
            <a:r>
              <a:t>Title</a:t>
            </a:r>
          </a:p>
          <a:p>
            <a:pPr algn="ctr">
              <a:defRPr sz="1000" b="0">
                <a:solidFill>
                  <a:srgbClr val="000000"/>
                </a:solidFill>
              </a:defRPr>
            </a:pPr>
            <a:r>
              <a:t>パディング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1783080"/>
            <a:ext cx="1325880" cy="1005840"/>
          </a:xfrm>
          <a:prstGeom prst="roundRect">
            <a:avLst/>
          </a:prstGeom>
          <a:solidFill>
            <a:srgbClr val="FBE5D6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HOLD</a:t>
            </a:r>
          </a:p>
          <a:p>
            <a:pPr algn="ctr">
              <a:defRPr sz="1000" b="0">
                <a:solidFill>
                  <a:srgbClr val="000000"/>
                </a:solidFill>
              </a:defRPr>
            </a:pPr>
            <a:r>
              <a:t>キュー</a:t>
            </a:r>
          </a:p>
          <a:p>
            <a:pPr algn="ctr">
              <a:defRPr sz="1000" b="0">
                <a:solidFill>
                  <a:srgbClr val="000000"/>
                </a:solidFill>
              </a:defRPr>
            </a:pPr>
            <a:r>
              <a:t>(部分)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1783080"/>
            <a:ext cx="1325880" cy="1005840"/>
          </a:xfrm>
          <a:prstGeom prst="roundRect">
            <a:avLst/>
          </a:prstGeom>
          <a:solidFill>
            <a:srgbClr val="DEEBF7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CSV出力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78240" y="1783080"/>
            <a:ext cx="1325880" cy="1005840"/>
          </a:xfrm>
          <a:prstGeom prst="roundRect">
            <a:avLst/>
          </a:prstGeom>
          <a:solidFill>
            <a:srgbClr val="DEEBF7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eBay</a:t>
            </a:r>
          </a:p>
          <a:p>
            <a:pPr algn="ctr">
              <a:defRPr sz="1000" b="0">
                <a:solidFill>
                  <a:srgbClr val="000000"/>
                </a:solidFill>
              </a:defRPr>
            </a:pPr>
            <a:r>
              <a:t>アップロード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195560" y="1783080"/>
            <a:ext cx="1325880" cy="1005840"/>
          </a:xfrm>
          <a:prstGeom prst="roundRect">
            <a:avLst/>
          </a:prstGeom>
          <a:solidFill>
            <a:srgbClr val="DEEBF7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人間目視</a:t>
            </a:r>
          </a:p>
          <a:p>
            <a:pPr algn="ctr">
              <a:defRPr sz="1000" b="0">
                <a:solidFill>
                  <a:srgbClr val="000000"/>
                </a:solidFill>
              </a:defRPr>
            </a:pPr>
            <a:r>
              <a:t>レビュー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600200" y="2286000"/>
            <a:ext cx="91440" cy="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017520" y="2286000"/>
            <a:ext cx="91440" cy="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434840" y="2286000"/>
            <a:ext cx="91440" cy="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852160" y="2286000"/>
            <a:ext cx="91440" cy="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269480" y="2286000"/>
            <a:ext cx="91440" cy="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686800" y="2286000"/>
            <a:ext cx="91440" cy="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104119" y="2286000"/>
            <a:ext cx="91441" cy="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74320" y="32004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0AD47"/>
                </a:solidFill>
              </a:defRPr>
            </a:pPr>
            <a:r>
              <a:t>【目標】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3611880"/>
            <a:ext cx="1325880" cy="1280160"/>
          </a:xfrm>
          <a:prstGeom prst="roundRect">
            <a:avLst/>
          </a:prstGeom>
          <a:solidFill>
            <a:srgbClr val="E2EFDA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00" b="0">
                <a:solidFill>
                  <a:srgbClr val="000000"/>
                </a:solidFill>
              </a:defRPr>
            </a:pPr>
            <a:r>
              <a:t>Claude API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生成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691640" y="3611880"/>
            <a:ext cx="1325880" cy="1280160"/>
          </a:xfrm>
          <a:prstGeom prst="roundRect">
            <a:avLst/>
          </a:prstGeom>
          <a:solidFill>
            <a:srgbClr val="E2EFDA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00" b="0">
                <a:solidFill>
                  <a:srgbClr val="000000"/>
                </a:solidFill>
              </a:defRPr>
            </a:pPr>
            <a:r>
              <a:t>Whitelist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検証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+ retry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(全カテゴリ)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108960" y="3611880"/>
            <a:ext cx="1325880" cy="1280160"/>
          </a:xfrm>
          <a:prstGeom prst="roundRect">
            <a:avLst/>
          </a:prstGeom>
          <a:solidFill>
            <a:srgbClr val="E2EFDA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00" b="0">
                <a:solidFill>
                  <a:srgbClr val="000000"/>
                </a:solidFill>
              </a:defRPr>
            </a:pPr>
            <a:r>
              <a:t>listing_common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Title/SKU/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コンディション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強制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26280" y="3611880"/>
            <a:ext cx="1325880" cy="1280160"/>
          </a:xfrm>
          <a:prstGeom prst="roundRect">
            <a:avLst/>
          </a:prstGeom>
          <a:solidFill>
            <a:srgbClr val="E2EFDA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00" b="0">
                <a:solidFill>
                  <a:srgbClr val="000000"/>
                </a:solidFill>
              </a:defRPr>
            </a:pPr>
            <a:r>
              <a:t>Plausibility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+max_length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+Source検証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(全カテゴリ)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0" y="3611880"/>
            <a:ext cx="1325880" cy="1280160"/>
          </a:xfrm>
          <a:prstGeom prst="roundRect">
            <a:avLst/>
          </a:prstGeom>
          <a:solidFill>
            <a:srgbClr val="E2EFDA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00" b="0">
                <a:solidFill>
                  <a:srgbClr val="000000"/>
                </a:solidFill>
              </a:defRPr>
            </a:pPr>
            <a:r>
              <a:t>HOLD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キュー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(全カテゴリ)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60920" y="3611880"/>
            <a:ext cx="1325880" cy="1280160"/>
          </a:xfrm>
          <a:prstGeom prst="roundRect">
            <a:avLst/>
          </a:prstGeom>
          <a:solidFill>
            <a:srgbClr val="E2EFDA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00" b="0">
                <a:solidFill>
                  <a:srgbClr val="000000"/>
                </a:solidFill>
              </a:defRPr>
            </a:pPr>
            <a:r>
              <a:t>回帰テスト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fixtures.json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物理ゲート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778240" y="3611880"/>
            <a:ext cx="1325880" cy="1280160"/>
          </a:xfrm>
          <a:prstGeom prst="roundRect">
            <a:avLst/>
          </a:prstGeom>
          <a:solidFill>
            <a:srgbClr val="E2EFDA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00" b="0">
                <a:solidFill>
                  <a:srgbClr val="000000"/>
                </a:solidFill>
              </a:defRPr>
            </a:pPr>
            <a:r>
              <a:t>Final lint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audit_csv_row()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195560" y="3611880"/>
            <a:ext cx="1325880" cy="1280160"/>
          </a:xfrm>
          <a:prstGeom prst="roundRect">
            <a:avLst/>
          </a:prstGeom>
          <a:solidFill>
            <a:srgbClr val="E2EFDA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00" b="0">
                <a:solidFill>
                  <a:srgbClr val="000000"/>
                </a:solidFill>
              </a:defRPr>
            </a:pPr>
            <a:r>
              <a:t>CSV出力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+ listing後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自動audit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600200" y="4251960"/>
            <a:ext cx="91440" cy="0"/>
          </a:xfrm>
          <a:prstGeom prst="line">
            <a:avLst/>
          </a:prstGeom>
          <a:ln w="19050">
            <a:solidFill>
              <a:srgbClr val="70AD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017520" y="4251960"/>
            <a:ext cx="91440" cy="0"/>
          </a:xfrm>
          <a:prstGeom prst="line">
            <a:avLst/>
          </a:prstGeom>
          <a:ln w="19050">
            <a:solidFill>
              <a:srgbClr val="70AD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434840" y="4251960"/>
            <a:ext cx="91440" cy="0"/>
          </a:xfrm>
          <a:prstGeom prst="line">
            <a:avLst/>
          </a:prstGeom>
          <a:ln w="19050">
            <a:solidFill>
              <a:srgbClr val="70AD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852160" y="4251960"/>
            <a:ext cx="91440" cy="0"/>
          </a:xfrm>
          <a:prstGeom prst="line">
            <a:avLst/>
          </a:prstGeom>
          <a:ln w="19050">
            <a:solidFill>
              <a:srgbClr val="70AD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269480" y="4251960"/>
            <a:ext cx="91440" cy="0"/>
          </a:xfrm>
          <a:prstGeom prst="line">
            <a:avLst/>
          </a:prstGeom>
          <a:ln w="19050">
            <a:solidFill>
              <a:srgbClr val="70AD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686800" y="4251960"/>
            <a:ext cx="91440" cy="0"/>
          </a:xfrm>
          <a:prstGeom prst="line">
            <a:avLst/>
          </a:prstGeom>
          <a:ln w="19050">
            <a:solidFill>
              <a:srgbClr val="70AD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0104119" y="4251960"/>
            <a:ext cx="91441" cy="0"/>
          </a:xfrm>
          <a:prstGeom prst="line">
            <a:avLst/>
          </a:prstGeom>
          <a:ln w="19050">
            <a:solidFill>
              <a:srgbClr val="70AD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74320" y="51206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0AD47"/>
                </a:solidFill>
              </a:defRPr>
            </a:pPr>
            <a:r>
              <a:t>【学習機能 (新設)】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74320" y="5440680"/>
            <a:ext cx="5669280" cy="1188720"/>
          </a:xfrm>
          <a:prstGeom prst="roundRect">
            <a:avLst/>
          </a:prstGeom>
          <a:solidFill>
            <a:srgbClr val="E2EFDA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improvement_log.jsonl</a:t>
            </a:r>
          </a:p>
          <a:p>
            <a:pPr algn="ctr">
              <a:defRPr sz="1000" b="0">
                <a:solidFill>
                  <a:srgbClr val="000000"/>
                </a:solidFill>
              </a:defRPr>
            </a:pPr>
            <a:r>
              <a:t>指摘ログ蓄積</a:t>
            </a:r>
          </a:p>
          <a:p>
            <a:pPr algn="ctr">
              <a:defRPr sz="1000" b="0">
                <a:solidFill>
                  <a:srgbClr val="000000"/>
                </a:solidFill>
              </a:defRPr>
            </a:pPr>
            <a:r>
              <a:t>→ 同指摘N回検知</a:t>
            </a:r>
          </a:p>
          <a:p>
            <a:pPr algn="ctr">
              <a:defRPr sz="1000" b="0">
                <a:solidFill>
                  <a:srgbClr val="000000"/>
                </a:solidFill>
              </a:defRPr>
            </a:pPr>
            <a:r>
              <a:t>→ Pythonタスク化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26480" y="5440680"/>
            <a:ext cx="5760720" cy="1188720"/>
          </a:xfrm>
          <a:prstGeom prst="roundRect">
            <a:avLst/>
          </a:prstGeom>
          <a:solidFill>
            <a:srgbClr val="E2EFDA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fixtures_listing.json</a:t>
            </a:r>
          </a:p>
          <a:p>
            <a:pPr algn="ctr">
              <a:defRPr sz="1000" b="0">
                <a:solidFill>
                  <a:srgbClr val="000000"/>
                </a:solidFill>
              </a:defRPr>
            </a:pPr>
            <a:r>
              <a:t>過去事例 (Baitcast Reel/PVC,ABS/1:65/9.7g/Pre-owned+New矛盾等)</a:t>
            </a:r>
          </a:p>
          <a:p>
            <a:pPr algn="ctr">
              <a:defRPr sz="1000" b="0">
                <a:solidFill>
                  <a:srgbClr val="000000"/>
                </a:solidFill>
              </a:defRPr>
            </a:pPr>
            <a:r>
              <a:t>→ test_listing_rules.py で自動実行</a:t>
            </a:r>
          </a:p>
          <a:p>
            <a:pPr algn="ctr">
              <a:defRPr sz="1000" b="0">
                <a:solidFill>
                  <a:srgbClr val="000000"/>
                </a:solidFill>
              </a:defRPr>
            </a:pPr>
            <a:r>
              <a:t>→ 失敗 = CSV出力ブロック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ギャップ &amp; 実装ロードマップ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808080"/>
                </a:solidFill>
              </a:defRPr>
            </a:pPr>
            <a:r>
              <a:t>P0 = 即実装 / P1 = 1週間内 / P2 = 2週間以降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371600"/>
            <a:ext cx="640080" cy="365760"/>
          </a:xfrm>
          <a:prstGeom prst="round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優先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1371600"/>
            <a:ext cx="6858000" cy="365760"/>
          </a:xfrm>
          <a:prstGeom prst="round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実装内容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371600"/>
            <a:ext cx="2286000" cy="365760"/>
          </a:xfrm>
          <a:prstGeom prst="round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影響カテゴリ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195560" y="1371600"/>
            <a:ext cx="1691640" cy="365760"/>
          </a:xfrm>
          <a:prstGeom prst="round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期待効果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737360"/>
            <a:ext cx="640080" cy="384048"/>
          </a:xfrm>
          <a:prstGeom prst="roundRect">
            <a:avLst/>
          </a:prstGeom>
          <a:solidFill>
            <a:srgbClr val="FBE5D6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P0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1737360"/>
            <a:ext cx="6858000" cy="3840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listing_common.py 集約 (Title/SKU/コンディション/HOLD)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1737360"/>
            <a:ext cx="2286000" cy="3840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全7カテゴリ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195560" y="1737360"/>
            <a:ext cx="1691640" cy="3840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水平展開漏れ解消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2121408"/>
            <a:ext cx="640080" cy="384048"/>
          </a:xfrm>
          <a:prstGeom prst="roundRect">
            <a:avLst/>
          </a:prstGeom>
          <a:solidFill>
            <a:srgbClr val="FBE5D6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P0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2121408"/>
            <a:ext cx="6858000" cy="3840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5スクリプト書換 (tshirt/montbell/gshock/ichibankuji/...)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2121408"/>
            <a:ext cx="2286000" cy="3840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全カテゴリ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195560" y="2121408"/>
            <a:ext cx="1691640" cy="3840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全listing統一品質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2505456"/>
            <a:ext cx="640080" cy="384048"/>
          </a:xfrm>
          <a:prstGeom prst="roundRect">
            <a:avLst/>
          </a:prstGeom>
          <a:solidFill>
            <a:srgbClr val="FBE5D6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P0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" y="2505456"/>
            <a:ext cx="6858000" cy="3840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回帰テスト fixtures + test_listing_rules.py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63840" y="2505456"/>
            <a:ext cx="2286000" cy="3840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全カテゴリ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195560" y="2505456"/>
            <a:ext cx="1691640" cy="3840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過去指摘再発0%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" y="2889503"/>
            <a:ext cx="640080" cy="384048"/>
          </a:xfrm>
          <a:prstGeom prst="roundRect">
            <a:avLst/>
          </a:prstGeom>
          <a:solidFill>
            <a:srgbClr val="FBE5D6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P0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120" y="2889503"/>
            <a:ext cx="6858000" cy="3840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audit_csv_row() final lint ゲート (CSV出力前)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63840" y="2889503"/>
            <a:ext cx="2286000" cy="3840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全カテゴリ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195560" y="2889503"/>
            <a:ext cx="1691640" cy="3840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違反物理ブロック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" y="3273551"/>
            <a:ext cx="640080" cy="384048"/>
          </a:xfrm>
          <a:prstGeom prst="roundRect">
            <a:avLst/>
          </a:prstGeom>
          <a:solidFill>
            <a:srgbClr val="DEEBF7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P1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0120" y="3273551"/>
            <a:ext cx="6858000" cy="3840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eBay Browse API median取得 → pricing_engine 改修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63840" y="3273551"/>
            <a:ext cx="2286000" cy="3840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全カテゴリ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195560" y="3273551"/>
            <a:ext cx="1691640" cy="3840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価格適正化↑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3657599"/>
            <a:ext cx="640080" cy="384048"/>
          </a:xfrm>
          <a:prstGeom prst="roundRect">
            <a:avLst/>
          </a:prstGeom>
          <a:solidFill>
            <a:srgbClr val="DEEBF7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P1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0120" y="3657599"/>
            <a:ext cx="6858000" cy="3840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eBay Required Fields取得 → whitelist_registry反映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863840" y="3657599"/>
            <a:ext cx="2286000" cy="3840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全カテゴリ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195560" y="3657599"/>
            <a:ext cx="1691640" cy="3840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Failure防止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74320" y="4041648"/>
            <a:ext cx="640080" cy="384048"/>
          </a:xfrm>
          <a:prstGeom prst="roundRect">
            <a:avLst/>
          </a:prstGeom>
          <a:solidFill>
            <a:srgbClr val="DEEBF7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P1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0120" y="4041648"/>
            <a:ext cx="6858000" cy="3840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improvement_log.jsonl + 同指摘N回検出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863840" y="4041648"/>
            <a:ext cx="2286000" cy="3840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全カテゴリ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195560" y="4041648"/>
            <a:ext cx="1691640" cy="3840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学習機能稼働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74320" y="4425696"/>
            <a:ext cx="640080" cy="384048"/>
          </a:xfrm>
          <a:prstGeom prst="roundRect">
            <a:avLst/>
          </a:prstGeom>
          <a:solidFill>
            <a:srgbClr val="E2EFDA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P2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60120" y="4425696"/>
            <a:ext cx="6858000" cy="3840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control_panel から listing後 audit 自動実行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863840" y="4425696"/>
            <a:ext cx="2286000" cy="3840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全カテゴリ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195560" y="4425696"/>
            <a:ext cx="1691640" cy="3840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品質ゲート常時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74320" y="4809744"/>
            <a:ext cx="640080" cy="384048"/>
          </a:xfrm>
          <a:prstGeom prst="roundRect">
            <a:avLst/>
          </a:prstGeom>
          <a:solidFill>
            <a:srgbClr val="E2EFDA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P2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60120" y="4809744"/>
            <a:ext cx="6858000" cy="3840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iMakAudit 監査官 listing毎自動呼出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863840" y="4809744"/>
            <a:ext cx="2286000" cy="3840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全カテゴリ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195560" y="4809744"/>
            <a:ext cx="1691640" cy="3840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既存仕組み活用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74320" y="5193792"/>
            <a:ext cx="640080" cy="384048"/>
          </a:xfrm>
          <a:prstGeom prst="roundRect">
            <a:avLst/>
          </a:prstGeom>
          <a:solidFill>
            <a:srgbClr val="E2EFDA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P2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60120" y="5193792"/>
            <a:ext cx="6858000" cy="3840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AI review_logs → SYSTEM_PROMPT 自動反映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863840" y="5193792"/>
            <a:ext cx="2286000" cy="3840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全カテゴリ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195560" y="5193792"/>
            <a:ext cx="1691640" cy="3840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自動学習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Gemini レビュー観点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808080"/>
                </a:solidFill>
              </a:defRPr>
            </a:pPr>
            <a:r>
              <a:t>以下の観点でフィードバック願います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371600"/>
            <a:ext cx="11612880" cy="566928"/>
          </a:xfrm>
          <a:prstGeom prst="roundRect">
            <a:avLst/>
          </a:prstGeom>
          <a:solidFill>
            <a:srgbClr val="DEEBF7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100" b="0">
                <a:solidFill>
                  <a:srgbClr val="000000"/>
                </a:solidFill>
              </a:defRPr>
            </a:pPr>
            <a:r>
              <a:t>1. アーキテクチャ的な見落とし</a:t>
            </a:r>
          </a:p>
          <a:p>
            <a:pPr algn="ctr">
              <a:defRPr sz="1100" b="0">
                <a:solidFill>
                  <a:srgbClr val="000000"/>
                </a:solidFill>
              </a:defRPr>
            </a:pPr>
            <a:r>
              <a:t>   (バッチ処理 vs リアルタイム、エラーリカバリ機構等)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2011680"/>
            <a:ext cx="11612880" cy="566928"/>
          </a:xfrm>
          <a:prstGeom prst="roundRect">
            <a:avLst/>
          </a:prstGeom>
          <a:solidFill>
            <a:srgbClr val="DEEBF7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100" b="0">
                <a:solidFill>
                  <a:srgbClr val="000000"/>
                </a:solidFill>
              </a:defRPr>
            </a:pPr>
            <a:r>
              <a:t>2. 品質保証の仕組みが目標 (月¥30万売上) に対して妥当か</a:t>
            </a:r>
          </a:p>
          <a:p>
            <a:pPr algn="ctr">
              <a:defRPr sz="1100" b="0">
                <a:solidFill>
                  <a:srgbClr val="000000"/>
                </a:solidFill>
              </a:defRPr>
            </a:pPr>
            <a:r>
              <a:t>   現状ROI測定: 全カテゴリ整備で月+15-40%期待、4要素確実化で+50%目標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2651760"/>
            <a:ext cx="11612880" cy="566928"/>
          </a:xfrm>
          <a:prstGeom prst="roundRect">
            <a:avLst/>
          </a:prstGeom>
          <a:solidFill>
            <a:srgbClr val="DEEBF7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100" b="0">
                <a:solidFill>
                  <a:srgbClr val="000000"/>
                </a:solidFill>
              </a:defRPr>
            </a:pPr>
            <a:r>
              <a:t>3. listing_common.py 集約方針のリスク</a:t>
            </a:r>
          </a:p>
          <a:p>
            <a:pPr algn="ctr">
              <a:defRPr sz="1100" b="0">
                <a:solidFill>
                  <a:srgbClr val="000000"/>
                </a:solidFill>
              </a:defRPr>
            </a:pPr>
            <a:r>
              <a:t>   5スクリプト書換 + 回帰テスト + 段階移行 で安全か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3291840"/>
            <a:ext cx="11612880" cy="566928"/>
          </a:xfrm>
          <a:prstGeom prst="roundRect">
            <a:avLst/>
          </a:prstGeom>
          <a:solidFill>
            <a:srgbClr val="DEEBF7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100" b="0">
                <a:solidFill>
                  <a:srgbClr val="000000"/>
                </a:solidFill>
              </a:defRPr>
            </a:pPr>
            <a:r>
              <a:t>4. 回帰テスト fixture設計案</a:t>
            </a:r>
          </a:p>
          <a:p>
            <a:pPr algn="ctr">
              <a:defRPr sz="1100" b="0">
                <a:solidFill>
                  <a:srgbClr val="000000"/>
                </a:solidFill>
              </a:defRPr>
            </a:pPr>
            <a:r>
              <a:t>   カテゴリ別 fixture vs カテゴリ横断 fixture どちらが運用しやすいか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3931920"/>
            <a:ext cx="11612880" cy="566928"/>
          </a:xfrm>
          <a:prstGeom prst="roundRect">
            <a:avLst/>
          </a:prstGeom>
          <a:solidFill>
            <a:srgbClr val="DEEBF7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100" b="0">
                <a:solidFill>
                  <a:srgbClr val="000000"/>
                </a:solidFill>
              </a:defRPr>
            </a:pPr>
            <a:r>
              <a:t>5. eBay API活用の改善余地</a:t>
            </a:r>
          </a:p>
          <a:p>
            <a:pPr algn="ctr">
              <a:defRPr sz="1100" b="0">
                <a:solidFill>
                  <a:srgbClr val="000000"/>
                </a:solidFill>
              </a:defRPr>
            </a:pPr>
            <a:r>
              <a:t>   Browse API median取得、Trading API Required Fields取得、Sold価格分析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4572000"/>
            <a:ext cx="11612880" cy="566928"/>
          </a:xfrm>
          <a:prstGeom prst="roundRect">
            <a:avLst/>
          </a:prstGeom>
          <a:solidFill>
            <a:srgbClr val="DEEBF7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100" b="0">
                <a:solidFill>
                  <a:srgbClr val="000000"/>
                </a:solidFill>
              </a:defRPr>
            </a:pPr>
            <a:r>
              <a:t>6. コスト面の懸念</a:t>
            </a:r>
          </a:p>
          <a:p>
            <a:pPr algn="ctr">
              <a:defRPr sz="1100" b="0">
                <a:solidFill>
                  <a:srgbClr val="000000"/>
                </a:solidFill>
              </a:defRPr>
            </a:pPr>
            <a:r>
              <a:t>   Claude API リトライ × カテゴリ拡張で API 費用累積</a:t>
            </a:r>
          </a:p>
          <a:p>
            <a:pPr algn="ctr">
              <a:defRPr sz="1100" b="0">
                <a:solidFill>
                  <a:srgbClr val="000000"/>
                </a:solidFill>
              </a:defRPr>
            </a:pPr>
            <a:r>
              <a:t>   (現状月$5-10、5x拡張で月$25-50想定)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5212080"/>
            <a:ext cx="11612880" cy="566928"/>
          </a:xfrm>
          <a:prstGeom prst="roundRect">
            <a:avLst/>
          </a:prstGeom>
          <a:solidFill>
            <a:srgbClr val="DEEBF7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100" b="0">
                <a:solidFill>
                  <a:srgbClr val="000000"/>
                </a:solidFill>
              </a:defRPr>
            </a:pPr>
            <a:r>
              <a:t>7. 見落としてる失敗モード</a:t>
            </a:r>
          </a:p>
          <a:p>
            <a:pPr algn="ctr">
              <a:defRPr sz="1100" b="0">
                <a:solidFill>
                  <a:srgbClr val="000000"/>
                </a:solidFill>
              </a:defRPr>
            </a:pPr>
            <a:r>
              <a:t>   今日の作業で気づいてない品質リスク・運用リスク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5852160"/>
            <a:ext cx="11612880" cy="566928"/>
          </a:xfrm>
          <a:prstGeom prst="roundRect">
            <a:avLst/>
          </a:prstGeom>
          <a:solidFill>
            <a:srgbClr val="DEEBF7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100" b="0">
                <a:solidFill>
                  <a:srgbClr val="000000"/>
                </a:solidFill>
              </a:defRPr>
            </a:pPr>
            <a:r>
              <a:t>8. iMakAudit (Claude+Gemini二段監査官) の活用方針</a:t>
            </a:r>
          </a:p>
          <a:p>
            <a:pPr algn="ctr">
              <a:defRPr sz="1100" b="0">
                <a:solidFill>
                  <a:srgbClr val="000000"/>
                </a:solidFill>
              </a:defRPr>
            </a:pPr>
            <a:r>
              <a:t>   既存仕組みを listing毎に自動呼出する vs 段階審査する 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